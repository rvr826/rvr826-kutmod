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/>
    <p:restoredTop sz="81695"/>
  </p:normalViewPr>
  <p:slideViewPr>
    <p:cSldViewPr snapToGrid="0">
      <p:cViewPr varScale="1">
        <p:scale>
          <a:sx n="125" d="100"/>
          <a:sy n="125" d="100"/>
        </p:scale>
        <p:origin x="1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9AF83D-19A5-F44F-A483-4C2C1FB6039B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C7C53B-674F-EF42-B535-A0DA10479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05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7C53B-674F-EF42-B535-A0DA10479F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196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FCE369E-487E-6746-AC64-932EA04329D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A60FD52D-3CC6-CD45-8284-F1EDECA6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161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369E-487E-6746-AC64-932EA04329D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D52D-3CC6-CD45-8284-F1EDECA6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977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369E-487E-6746-AC64-932EA04329D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D52D-3CC6-CD45-8284-F1EDECA6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683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369E-487E-6746-AC64-932EA04329D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D52D-3CC6-CD45-8284-F1EDECA6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767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369E-487E-6746-AC64-932EA04329D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D52D-3CC6-CD45-8284-F1EDECA6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526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369E-487E-6746-AC64-932EA04329D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D52D-3CC6-CD45-8284-F1EDECA6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2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369E-487E-6746-AC64-932EA04329D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D52D-3CC6-CD45-8284-F1EDECA6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0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369E-487E-6746-AC64-932EA04329D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D52D-3CC6-CD45-8284-F1EDECA6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903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369E-487E-6746-AC64-932EA04329D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D52D-3CC6-CD45-8284-F1EDECA6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38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369E-487E-6746-AC64-932EA04329D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D52D-3CC6-CD45-8284-F1EDECA6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829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369E-487E-6746-AC64-932EA04329D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D52D-3CC6-CD45-8284-F1EDECA6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641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369E-487E-6746-AC64-932EA04329D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D52D-3CC6-CD45-8284-F1EDECA6296A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1645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369E-487E-6746-AC64-932EA04329D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D52D-3CC6-CD45-8284-F1EDECA6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796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369E-487E-6746-AC64-932EA04329D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D52D-3CC6-CD45-8284-F1EDECA6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707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369E-487E-6746-AC64-932EA04329D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D52D-3CC6-CD45-8284-F1EDECA6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687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369E-487E-6746-AC64-932EA04329D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D52D-3CC6-CD45-8284-F1EDECA6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9789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369E-487E-6746-AC64-932EA04329D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D52D-3CC6-CD45-8284-F1EDECA6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72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E369E-487E-6746-AC64-932EA04329D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FD52D-3CC6-CD45-8284-F1EDECA62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093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  <p:sldLayoutId id="2147483902" r:id="rId12"/>
    <p:sldLayoutId id="2147483903" r:id="rId13"/>
    <p:sldLayoutId id="2147483904" r:id="rId14"/>
    <p:sldLayoutId id="2147483905" r:id="rId15"/>
    <p:sldLayoutId id="2147483906" r:id="rId16"/>
    <p:sldLayoutId id="214748390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B144F-0D85-1E62-C70D-988F8BE461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Benchmark of an LU Decomposition Algorithm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AA8EC8-A36F-744A-9E80-47D6C7707B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pPr algn="ctr"/>
            <a:r>
              <a:rPr lang="en-US" dirty="0"/>
              <a:t>Márton Papp, Ákos Szabó </a:t>
            </a:r>
          </a:p>
          <a:p>
            <a:pPr algn="ctr"/>
            <a:r>
              <a:rPr lang="en-US" dirty="0"/>
              <a:t>ELTE FI</a:t>
            </a:r>
          </a:p>
        </p:txBody>
      </p:sp>
    </p:spTree>
    <p:extLst>
      <p:ext uri="{BB962C8B-B14F-4D97-AF65-F5344CB8AC3E}">
        <p14:creationId xmlns:p14="http://schemas.microsoft.com/office/powerpoint/2010/main" val="1670388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C3148-1B77-E0E8-894C-0806796B7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B4C1E8-A654-BA63-6E51-1A64F93443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19497" y="1965008"/>
                <a:ext cx="9627914" cy="193062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Objective</a:t>
                </a:r>
              </a:p>
              <a:p>
                <a:pPr lvl="1"/>
                <a:r>
                  <a:rPr lang="en-US" sz="1900" dirty="0"/>
                  <a:t>Implement &amp; benchmark custom LU decomposition algorithm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hu-HU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1900" b="0" i="1" smtClean="0">
                            <a:latin typeface="Cambria Math" panose="02040503050406030204" pitchFamily="18" charset="0"/>
                          </a:rPr>
                          <m:t>𝑃𝐴</m:t>
                        </m:r>
                        <m:r>
                          <a:rPr lang="hu-HU" sz="19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hu-HU" sz="1900" b="0" i="1" smtClean="0">
                            <a:latin typeface="Cambria Math" panose="02040503050406030204" pitchFamily="18" charset="0"/>
                          </a:rPr>
                          <m:t>𝐿𝑈</m:t>
                        </m:r>
                      </m:e>
                    </m:d>
                  </m:oMath>
                </a14:m>
                <a:r>
                  <a:rPr lang="en-US" sz="1900" dirty="0"/>
                  <a:t> using Doolittle’s method with partial pivoting.</a:t>
                </a:r>
              </a:p>
              <a:p>
                <a:pPr lvl="1"/>
                <a:r>
                  <a:rPr lang="en-US" sz="1900" dirty="0"/>
                  <a:t>Evaluate </a:t>
                </a:r>
                <a:r>
                  <a:rPr lang="en-US" sz="1900" b="1" dirty="0"/>
                  <a:t>"pure Python"</a:t>
                </a:r>
                <a:r>
                  <a:rPr lang="en-US" sz="1900" dirty="0"/>
                  <a:t> performance (no low-level optimizations).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B4C1E8-A654-BA63-6E51-1A64F93443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19497" y="1965008"/>
                <a:ext cx="9627914" cy="1930627"/>
              </a:xfrm>
              <a:blipFill>
                <a:blip r:embed="rId3"/>
                <a:stretch>
                  <a:fillRect l="-1318" t="-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4F59FAC-7688-7CF4-7D95-42247D68BF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19497" y="4243751"/>
                <a:ext cx="9627914" cy="193062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800" dirty="0"/>
                  <a:t>Motivation</a:t>
                </a:r>
              </a:p>
              <a:p>
                <a:pPr lvl="1"/>
                <a:r>
                  <a:rPr lang="en-US" sz="1900" dirty="0"/>
                  <a:t>LU decomposition is a fundamental tool for solving linear systems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hu-HU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1900" b="0" i="1" smtClean="0">
                            <a:latin typeface="Cambria Math" panose="02040503050406030204" pitchFamily="18" charset="0"/>
                          </a:rPr>
                          <m:t>𝐴𝑥</m:t>
                        </m:r>
                        <m:r>
                          <a:rPr lang="hu-HU" sz="19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hu-HU" sz="19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sz="1900" dirty="0"/>
                  <a:t> efficiently.</a:t>
                </a:r>
              </a:p>
              <a:p>
                <a:pPr lvl="1"/>
                <a:r>
                  <a:rPr lang="en-US" sz="1900" dirty="0"/>
                  <a:t>High computational cost: </a:t>
                </a:r>
                <a14:m>
                  <m:oMath xmlns:m="http://schemas.openxmlformats.org/officeDocument/2006/math">
                    <m:r>
                      <a:rPr lang="hu-HU" sz="19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hu-HU" sz="19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hu-HU" sz="19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u-HU" sz="19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hu-HU" sz="19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hu-HU" sz="19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900" dirty="0"/>
                  <a:t> complexity.</a:t>
                </a:r>
              </a:p>
              <a:p>
                <a:pPr lvl="1"/>
                <a:r>
                  <a:rPr lang="en-US" sz="1900" dirty="0"/>
                  <a:t>Understanding Python’s limitations in numerical algorithms.</a:t>
                </a: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4F59FAC-7688-7CF4-7D95-42247D68B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497" y="4243751"/>
                <a:ext cx="9627914" cy="1930627"/>
              </a:xfrm>
              <a:prstGeom prst="rect">
                <a:avLst/>
              </a:prstGeom>
              <a:blipFill>
                <a:blip r:embed="rId4"/>
                <a:stretch>
                  <a:fillRect l="-1318" t="-654" b="-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3692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E8896-ED35-2ADF-5A88-BD2896B97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89E9ED-D20E-D0E6-0273-5594DBFE7852}"/>
              </a:ext>
            </a:extLst>
          </p:cNvPr>
          <p:cNvSpPr txBox="1">
            <a:spLocks/>
          </p:cNvSpPr>
          <p:nvPr/>
        </p:nvSpPr>
        <p:spPr>
          <a:xfrm>
            <a:off x="1419497" y="1885519"/>
            <a:ext cx="9627914" cy="1930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dirty="0"/>
              <a:t>Implementation Environment</a:t>
            </a:r>
          </a:p>
          <a:p>
            <a:pPr lvl="1"/>
            <a:r>
              <a:rPr lang="hu-HU" sz="1900" b="1" dirty="0"/>
              <a:t>Hardware:</a:t>
            </a:r>
            <a:r>
              <a:rPr lang="hu-HU" sz="1900" dirty="0"/>
              <a:t> Intel </a:t>
            </a:r>
            <a:r>
              <a:rPr lang="hu-HU" sz="1900" dirty="0" err="1"/>
              <a:t>Core</a:t>
            </a:r>
            <a:r>
              <a:rPr lang="hu-HU" sz="1900" dirty="0"/>
              <a:t> i5-1135G6 (4 </a:t>
            </a:r>
            <a:r>
              <a:rPr lang="hu-HU" sz="1900" dirty="0" err="1"/>
              <a:t>cores</a:t>
            </a:r>
            <a:r>
              <a:rPr lang="hu-HU" sz="1900" dirty="0"/>
              <a:t>), 8 GB RAM.</a:t>
            </a:r>
          </a:p>
          <a:p>
            <a:pPr lvl="1"/>
            <a:r>
              <a:rPr lang="en-US" altLang="en-US" sz="1900" b="1" dirty="0"/>
              <a:t>Software:</a:t>
            </a:r>
            <a:r>
              <a:rPr lang="en-US" altLang="en-US" sz="1900" dirty="0"/>
              <a:t> Python 3.14, NumPy 2.3 (for dense matrix storage) .</a:t>
            </a:r>
          </a:p>
          <a:p>
            <a:pPr lvl="1"/>
            <a:r>
              <a:rPr lang="en-US" altLang="en-US" sz="1900" b="1" dirty="0"/>
              <a:t>Constraint:</a:t>
            </a:r>
            <a:r>
              <a:rPr lang="en-US" altLang="en-US" sz="1900" dirty="0"/>
              <a:t> Custom implementation without external optimization libraries (e.g., LAPACK).</a:t>
            </a:r>
          </a:p>
          <a:p>
            <a:pPr marL="457200" lvl="1" indent="0">
              <a:buNone/>
            </a:pPr>
            <a:endParaRPr lang="en-US" altLang="en-US" sz="19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852A62F-6081-6155-9E78-3A42E3673B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19497" y="3887266"/>
                <a:ext cx="9627914" cy="274721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3300" dirty="0"/>
                  <a:t>Benchmarking Protocol</a:t>
                </a:r>
              </a:p>
              <a:p>
                <a:pPr lvl="1"/>
                <a:r>
                  <a:rPr lang="en-US" sz="2500" b="1" dirty="0"/>
                  <a:t>Dataset:</a:t>
                </a:r>
                <a:r>
                  <a:rPr lang="en-US" sz="2500" dirty="0"/>
                  <a:t> Randomly generated square matrices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hu-HU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hu-HU" sz="2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u-HU" sz="25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hu-HU" sz="2500" i="1">
                                <a:latin typeface="Cambria Math" panose="02040503050406030204" pitchFamily="18" charset="0"/>
                              </a:rPr>
                              <m:t> ∈</m:t>
                            </m:r>
                            <m:r>
                              <a:rPr lang="hu-HU" sz="2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hu-HU" sz="2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hu-HU" sz="2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hu-HU" sz="25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hu-HU" sz="25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500" dirty="0"/>
              </a:p>
              <a:p>
                <a:pPr lvl="1"/>
                <a:r>
                  <a:rPr lang="en-US" sz="2500" b="1" dirty="0"/>
                  <a:t>Test Cases:</a:t>
                </a:r>
                <a:r>
                  <a:rPr lang="en-US" sz="2500" dirty="0"/>
                  <a:t> Matrix sizes n </a:t>
                </a:r>
                <a14:m>
                  <m:oMath xmlns:m="http://schemas.openxmlformats.org/officeDocument/2006/math">
                    <m:r>
                      <a:rPr lang="hu-HU" sz="2500" i="1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500" dirty="0"/>
                  <a:t> {10, 50, 250, 1000} to evaluate runtime scaling.</a:t>
                </a:r>
              </a:p>
              <a:p>
                <a:pPr lvl="1"/>
                <a:r>
                  <a:rPr lang="en-US" sz="2500" b="1" dirty="0"/>
                  <a:t>Reliability:</a:t>
                </a:r>
                <a:r>
                  <a:rPr lang="en-US" sz="2500" dirty="0"/>
                  <a:t> 100 independent trials per size to measure variability.</a:t>
                </a:r>
              </a:p>
              <a:p>
                <a:pPr lvl="1"/>
                <a:r>
                  <a:rPr lang="en-US" sz="2500" b="1" dirty="0"/>
                  <a:t>Metrics:</a:t>
                </a:r>
                <a:endParaRPr lang="en-US" sz="2500" dirty="0"/>
              </a:p>
              <a:p>
                <a:pPr lvl="2"/>
                <a:r>
                  <a:rPr lang="en-US" sz="2500" dirty="0"/>
                  <a:t>Execution Time (high-precision timer).</a:t>
                </a:r>
              </a:p>
              <a:p>
                <a:pPr lvl="2"/>
                <a:r>
                  <a:rPr lang="en-US" sz="2500" dirty="0"/>
                  <a:t>Numerical Stability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2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5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hu-HU" sz="2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sz="2500" i="1">
                                <a:latin typeface="Cambria Math" panose="02040503050406030204" pitchFamily="18" charset="0"/>
                              </a:rPr>
                              <m:t>𝑃𝐴</m:t>
                            </m:r>
                            <m:r>
                              <a:rPr lang="hu-HU" sz="25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hu-HU" sz="2500" i="1">
                                <a:latin typeface="Cambria Math" panose="02040503050406030204" pitchFamily="18" charset="0"/>
                              </a:rPr>
                              <m:t>𝐿𝑈</m:t>
                            </m:r>
                          </m:e>
                        </m:d>
                        <m:r>
                          <a:rPr lang="hu-HU" sz="25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hu-HU" sz="25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hu-HU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dirty="0"/>
                  <a:t>.</a:t>
                </a:r>
              </a:p>
              <a:p>
                <a:pPr lvl="1"/>
                <a:endParaRPr lang="en-US" sz="1800" dirty="0"/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852A62F-6081-6155-9E78-3A42E3673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497" y="3887266"/>
                <a:ext cx="9627914" cy="2747214"/>
              </a:xfrm>
              <a:prstGeom prst="rect">
                <a:avLst/>
              </a:prstGeom>
              <a:blipFill>
                <a:blip r:embed="rId2"/>
                <a:stretch>
                  <a:fillRect l="-1054" t="-2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3375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7B578-4D60-C17D-E4C6-9639FD595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7E1CB0-2EC4-1F20-07EF-C4EB3153EB1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141409" y="1934526"/>
                <a:ext cx="4878389" cy="3541714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dirty="0"/>
                  <a:t>Runtime Analysis</a:t>
                </a:r>
              </a:p>
              <a:p>
                <a:r>
                  <a:rPr lang="en-US" sz="1900" dirty="0"/>
                  <a:t>Shows clear cubic growth (</a:t>
                </a:r>
                <a14:m>
                  <m:oMath xmlns:m="http://schemas.openxmlformats.org/officeDocument/2006/math">
                    <m:r>
                      <a:rPr lang="hu-HU" sz="19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hu-HU" sz="19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hu-HU" sz="1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u-HU" sz="19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hu-HU" sz="19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hu-HU" sz="19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hu-HU" sz="19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900" dirty="0"/>
                  <a:t> aligning with theory.</a:t>
                </a:r>
              </a:p>
              <a:p>
                <a:r>
                  <a:rPr lang="en-US" sz="1900" dirty="0"/>
                  <a:t>Runtime rises sharply, exceeding </a:t>
                </a:r>
                <a:r>
                  <a:rPr lang="en-US" sz="1900" b="1" dirty="0"/>
                  <a:t>1.4s</a:t>
                </a:r>
                <a:r>
                  <a:rPr lang="en-US" sz="1900" dirty="0"/>
                  <a:t> for n=1000.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7E1CB0-2EC4-1F20-07EF-C4EB3153EB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141409" y="1934526"/>
                <a:ext cx="4878389" cy="3541714"/>
              </a:xfrm>
              <a:blipFill>
                <a:blip r:embed="rId2"/>
                <a:stretch>
                  <a:fillRect l="-1558" t="-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205628A-3CA0-3D53-F3B3-F1509348F92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094412" y="1934526"/>
                <a:ext cx="4875211" cy="3541714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dirty="0"/>
                  <a:t>Numerical Stability</a:t>
                </a:r>
              </a:p>
              <a:p>
                <a:r>
                  <a:rPr lang="en-US" sz="1900" dirty="0"/>
                  <a:t>Residual error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19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hu-HU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sz="1900" i="1">
                                <a:latin typeface="Cambria Math" panose="02040503050406030204" pitchFamily="18" charset="0"/>
                              </a:rPr>
                              <m:t>𝑃𝐴</m:t>
                            </m:r>
                            <m:r>
                              <a:rPr lang="hu-HU" sz="19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hu-HU" sz="1900" i="1">
                                <a:latin typeface="Cambria Math" panose="02040503050406030204" pitchFamily="18" charset="0"/>
                              </a:rPr>
                              <m:t>𝐿𝑈</m:t>
                            </m:r>
                          </m:e>
                        </m:d>
                        <m:r>
                          <a:rPr lang="hu-HU" sz="19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hu-HU" sz="190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hu-HU" sz="19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900" dirty="0"/>
                  <a:t> increases with size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9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u-HU" sz="1900" b="0" i="1" smtClean="0">
                            <a:latin typeface="Cambria Math" panose="02040503050406030204" pitchFamily="18" charset="0"/>
                          </a:rPr>
                          <m:t>(10</m:t>
                        </m:r>
                      </m:e>
                      <m:sup>
                        <m:r>
                          <a:rPr lang="hu-HU" sz="1900" b="0" i="1" smtClean="0">
                            <a:latin typeface="Cambria Math" panose="02040503050406030204" pitchFamily="18" charset="0"/>
                          </a:rPr>
                          <m:t>−16</m:t>
                        </m:r>
                      </m:sup>
                    </m:sSup>
                    <m:r>
                      <a:rPr lang="hu-HU" sz="19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hu-HU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9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9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u-HU" sz="19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hu-HU" sz="1900" b="0" i="1" dirty="0" smtClean="0">
                            <a:latin typeface="Cambria Math" panose="02040503050406030204" pitchFamily="18" charset="0"/>
                          </a:rPr>
                          <m:t>−12</m:t>
                        </m:r>
                      </m:sup>
                    </m:sSup>
                    <m:r>
                      <a:rPr lang="hu-HU" sz="19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900" dirty="0"/>
              </a:p>
              <a:p>
                <a:r>
                  <a:rPr lang="en-US" sz="1900" dirty="0"/>
                  <a:t>Despite growth, error remains negligible.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205628A-3CA0-3D53-F3B3-F1509348F9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094412" y="1934526"/>
                <a:ext cx="4875211" cy="3541714"/>
              </a:xfrm>
              <a:blipFill>
                <a:blip r:embed="rId3"/>
                <a:stretch>
                  <a:fillRect l="-1823" t="-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44282D9-006D-CC9F-A0A1-1C21E2EE127F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841972" y="4153360"/>
            <a:ext cx="3286729" cy="25420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747701-6B3C-2CBB-4DDD-8749ADF06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3297" y="4153360"/>
            <a:ext cx="3286729" cy="254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86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30D12-D8D8-7BD5-9EEF-58443D855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7402B25-E636-27B6-C22D-0D7A2D3543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19497" y="1965008"/>
                <a:ext cx="9627914" cy="193062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Key Findings</a:t>
                </a:r>
              </a:p>
              <a:p>
                <a:pPr lvl="1"/>
                <a:r>
                  <a:rPr lang="hu-HU" sz="1900" dirty="0" err="1"/>
                  <a:t>Confirmed</a:t>
                </a:r>
                <a:r>
                  <a:rPr lang="hu-HU" sz="1900" dirty="0"/>
                  <a:t> </a:t>
                </a:r>
                <a:r>
                  <a:rPr lang="hu-HU" sz="1900" dirty="0" err="1"/>
                  <a:t>theoretical</a:t>
                </a:r>
                <a:r>
                  <a:rPr lang="hu-HU" sz="1900" dirty="0"/>
                  <a:t> </a:t>
                </a:r>
                <a14:m>
                  <m:oMath xmlns:m="http://schemas.openxmlformats.org/officeDocument/2006/math">
                    <m:r>
                      <a:rPr lang="hu-HU" sz="19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hu-HU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hu-HU" sz="1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u-HU" sz="19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hu-HU" sz="19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900" dirty="0"/>
                  <a:t> </a:t>
                </a:r>
                <a:r>
                  <a:rPr lang="en-US" sz="1900" b="1" dirty="0"/>
                  <a:t>complexity </a:t>
                </a:r>
                <a:r>
                  <a:rPr lang="en-US" sz="1900" dirty="0"/>
                  <a:t>with predictable runtime scaling.</a:t>
                </a:r>
              </a:p>
              <a:p>
                <a:pPr lvl="1"/>
                <a:r>
                  <a:rPr lang="en-US" sz="1900" dirty="0"/>
                  <a:t>High numerical precision (</a:t>
                </a:r>
                <a14:m>
                  <m:oMath xmlns:m="http://schemas.openxmlformats.org/officeDocument/2006/math">
                    <m:r>
                      <a:rPr lang="hu-HU" sz="1900" b="0" i="1" smtClean="0">
                        <a:latin typeface="Cambria Math" panose="02040503050406030204" pitchFamily="18" charset="0"/>
                      </a:rPr>
                      <m:t>𝑃𝐴</m:t>
                    </m:r>
                    <m:r>
                      <a:rPr lang="hu-HU" sz="1900" b="0" i="1" smtClean="0">
                        <a:latin typeface="Cambria Math" panose="02040503050406030204" pitchFamily="18" charset="0"/>
                      </a:rPr>
                      <m:t> ≈</m:t>
                    </m:r>
                    <m:r>
                      <a:rPr lang="hu-HU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𝐿𝑈</m:t>
                    </m:r>
                    <m:r>
                      <a:rPr lang="hu-HU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900" dirty="0"/>
                  <a:t> achieved via </a:t>
                </a:r>
                <a:r>
                  <a:rPr lang="en-US" sz="1900" b="1" dirty="0"/>
                  <a:t>partial pivoting</a:t>
                </a:r>
                <a:r>
                  <a:rPr lang="en-US" sz="1900" dirty="0"/>
                  <a:t>.</a:t>
                </a: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7402B25-E636-27B6-C22D-0D7A2D3543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19497" y="1965008"/>
                <a:ext cx="9627914" cy="1930627"/>
              </a:xfrm>
              <a:blipFill>
                <a:blip r:embed="rId2"/>
                <a:stretch>
                  <a:fillRect l="-1318" t="-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039D86-FF0F-CFF5-43C1-63D52438A168}"/>
              </a:ext>
            </a:extLst>
          </p:cNvPr>
          <p:cNvSpPr txBox="1">
            <a:spLocks/>
          </p:cNvSpPr>
          <p:nvPr/>
        </p:nvSpPr>
        <p:spPr>
          <a:xfrm>
            <a:off x="1419497" y="3848963"/>
            <a:ext cx="9627914" cy="1930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dirty="0"/>
              <a:t>Final Verdict</a:t>
            </a:r>
          </a:p>
          <a:p>
            <a:pPr lvl="1"/>
            <a:r>
              <a:rPr lang="hu-HU" sz="1900" b="1" dirty="0" err="1"/>
              <a:t>Educational</a:t>
            </a:r>
            <a:r>
              <a:rPr lang="hu-HU" sz="1900" b="1" dirty="0"/>
              <a:t> </a:t>
            </a:r>
            <a:r>
              <a:rPr lang="hu-HU" sz="1900" b="1" dirty="0" err="1"/>
              <a:t>use</a:t>
            </a:r>
            <a:r>
              <a:rPr lang="hu-HU" sz="1900" b="1" dirty="0"/>
              <a:t>: </a:t>
            </a:r>
            <a:r>
              <a:rPr lang="hu-HU" sz="1900" dirty="0" err="1"/>
              <a:t>Ideal</a:t>
            </a:r>
            <a:r>
              <a:rPr lang="hu-HU" sz="1900" dirty="0"/>
              <a:t> </a:t>
            </a:r>
            <a:r>
              <a:rPr lang="hu-HU" sz="1900" dirty="0" err="1"/>
              <a:t>implementation</a:t>
            </a:r>
            <a:r>
              <a:rPr lang="hu-HU" sz="1900" dirty="0"/>
              <a:t> </a:t>
            </a:r>
            <a:r>
              <a:rPr lang="hu-HU" sz="1900" dirty="0" err="1"/>
              <a:t>for</a:t>
            </a:r>
            <a:r>
              <a:rPr lang="hu-HU" sz="1900" dirty="0"/>
              <a:t> </a:t>
            </a:r>
            <a:r>
              <a:rPr lang="hu-HU" sz="1900" dirty="0" err="1"/>
              <a:t>understanding</a:t>
            </a:r>
            <a:r>
              <a:rPr lang="hu-HU" sz="1900" dirty="0"/>
              <a:t> </a:t>
            </a:r>
            <a:r>
              <a:rPr lang="hu-HU" sz="1900" dirty="0" err="1"/>
              <a:t>algorithmic</a:t>
            </a:r>
            <a:r>
              <a:rPr lang="hu-HU" sz="1900" dirty="0"/>
              <a:t> </a:t>
            </a:r>
            <a:r>
              <a:rPr lang="hu-HU" sz="1900" dirty="0" err="1"/>
              <a:t>mechanics</a:t>
            </a:r>
            <a:r>
              <a:rPr lang="hu-HU" sz="1900" dirty="0"/>
              <a:t>.</a:t>
            </a:r>
            <a:endParaRPr lang="en-US" sz="1900" b="1" dirty="0"/>
          </a:p>
          <a:p>
            <a:pPr lvl="1"/>
            <a:r>
              <a:rPr lang="hu-HU" sz="1900" b="1" dirty="0" err="1"/>
              <a:t>Production</a:t>
            </a:r>
            <a:r>
              <a:rPr lang="hu-HU" sz="1900" b="1" dirty="0"/>
              <a:t> </a:t>
            </a:r>
            <a:r>
              <a:rPr lang="hu-HU" sz="1900" b="1" dirty="0" err="1"/>
              <a:t>use</a:t>
            </a:r>
            <a:r>
              <a:rPr lang="hu-HU" sz="1900" b="1" dirty="0"/>
              <a:t>: </a:t>
            </a:r>
            <a:r>
              <a:rPr lang="hu-HU" sz="1900" dirty="0" err="1"/>
              <a:t>For</a:t>
            </a:r>
            <a:r>
              <a:rPr lang="hu-HU" sz="1900" dirty="0"/>
              <a:t> </a:t>
            </a:r>
            <a:r>
              <a:rPr lang="hu-HU" sz="1900" dirty="0" err="1"/>
              <a:t>large</a:t>
            </a:r>
            <a:r>
              <a:rPr lang="hu-HU" sz="1900" dirty="0"/>
              <a:t> </a:t>
            </a:r>
            <a:r>
              <a:rPr lang="hu-HU" sz="1900" dirty="0" err="1"/>
              <a:t>scale</a:t>
            </a:r>
            <a:r>
              <a:rPr lang="hu-HU" sz="1900" dirty="0"/>
              <a:t> </a:t>
            </a:r>
            <a:r>
              <a:rPr lang="hu-HU" sz="1900" dirty="0" err="1"/>
              <a:t>systems</a:t>
            </a:r>
            <a:r>
              <a:rPr lang="hu-HU" sz="1900" dirty="0"/>
              <a:t>, </a:t>
            </a:r>
            <a:r>
              <a:rPr lang="hu-HU" sz="1900" dirty="0" err="1"/>
              <a:t>optimized</a:t>
            </a:r>
            <a:r>
              <a:rPr lang="hu-HU" sz="1900" dirty="0"/>
              <a:t> </a:t>
            </a:r>
            <a:r>
              <a:rPr lang="hu-HU" sz="1900" dirty="0" err="1"/>
              <a:t>compiled</a:t>
            </a:r>
            <a:r>
              <a:rPr lang="hu-HU" sz="1900" dirty="0"/>
              <a:t> </a:t>
            </a:r>
            <a:r>
              <a:rPr lang="hu-HU" sz="1900" dirty="0" err="1"/>
              <a:t>libraries</a:t>
            </a:r>
            <a:r>
              <a:rPr lang="hu-HU" sz="1900" dirty="0"/>
              <a:t> (</a:t>
            </a:r>
            <a:r>
              <a:rPr lang="hu-HU" sz="1900" dirty="0" err="1"/>
              <a:t>e.g</a:t>
            </a:r>
            <a:r>
              <a:rPr lang="hu-HU" sz="1900" dirty="0"/>
              <a:t>., LAPACK) </a:t>
            </a:r>
            <a:r>
              <a:rPr lang="hu-HU" sz="1900" dirty="0" err="1"/>
              <a:t>are</a:t>
            </a:r>
            <a:r>
              <a:rPr lang="hu-HU" sz="1900" dirty="0"/>
              <a:t> </a:t>
            </a:r>
            <a:r>
              <a:rPr lang="hu-HU" sz="1900" dirty="0" err="1"/>
              <a:t>necessary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3531759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454</TotalTime>
  <Words>282</Words>
  <Application>Microsoft Macintosh PowerPoint</Application>
  <PresentationFormat>Widescreen</PresentationFormat>
  <Paragraphs>39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Cambria Math</vt:lpstr>
      <vt:lpstr>Tw Cen MT</vt:lpstr>
      <vt:lpstr>Circuit</vt:lpstr>
      <vt:lpstr>Benchmark of an LU Decomposition Algorithm in Python</vt:lpstr>
      <vt:lpstr>Introduction</vt:lpstr>
      <vt:lpstr>Methodology</vt:lpstr>
      <vt:lpstr>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Szabó Ákos Ferenc</dc:creator>
  <cp:lastModifiedBy>Szabó Ákos Ferenc</cp:lastModifiedBy>
  <cp:revision>1</cp:revision>
  <dcterms:created xsi:type="dcterms:W3CDTF">2025-11-30T10:13:44Z</dcterms:created>
  <dcterms:modified xsi:type="dcterms:W3CDTF">2025-11-30T17:48:20Z</dcterms:modified>
</cp:coreProperties>
</file>